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4A5A5F"/>
    <a:srgbClr val="FFFFFF"/>
    <a:srgbClr val="CCFBF1"/>
    <a:srgbClr val="F4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44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4884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688336" y="640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MyShell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688336" y="1783080"/>
            <a:ext cx="5120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8336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Unix Shell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88336" y="2404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93192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1215" y="4738793"/>
            <a:ext cx="8781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Department Of Computer Science                                                                                                                Air University A&amp;ACK                                                                                                          </a:t>
            </a:r>
            <a:endParaRPr lang="en-US" sz="1400" b="1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EFA1960-807E-4FC3-A184-7BD94C7E0EBC}"/>
              </a:ext>
            </a:extLst>
          </p:cNvPr>
          <p:cNvSpPr/>
          <p:nvPr/>
        </p:nvSpPr>
        <p:spPr>
          <a:xfrm>
            <a:off x="6935216" y="3845052"/>
            <a:ext cx="174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Haleema Abid</a:t>
            </a:r>
          </a:p>
          <a:p>
            <a:pPr marL="0" indent="0" algn="l">
              <a:buNone/>
            </a:pPr>
            <a:r>
              <a:rPr lang="en-US" sz="17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Samreen</a:t>
            </a: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Shoukat</a:t>
            </a:r>
            <a:endParaRPr lang="en-US" sz="17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7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Hamna</a:t>
            </a: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Saleem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49085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55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400" dirty="0">
                <a:solidFill>
                  <a:srgbClr val="0D9488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28600" y="896112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005840"/>
            <a:ext cx="0" cy="3335154"/>
          </a:xfrm>
          <a:prstGeom prst="line">
            <a:avLst/>
          </a:prstGeom>
          <a:noFill/>
          <a:ln w="19050">
            <a:solidFill>
              <a:srgbClr val="B2DFD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21208" y="1188721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1887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4400" y="1069849"/>
            <a:ext cx="3291840" cy="565092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868681" y="1069849"/>
            <a:ext cx="45719" cy="5650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59" y="123627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1870862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884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90626" y="1764791"/>
            <a:ext cx="3291839" cy="466345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1764791"/>
            <a:ext cx="45719" cy="466345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7086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19" y="253654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19" y="25365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96111" y="2404872"/>
            <a:ext cx="3291840" cy="490119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1" y="2404872"/>
            <a:ext cx="45719" cy="50749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5" y="254536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</a:rPr>
              <a:t>Core Features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4010" y="3202231"/>
            <a:ext cx="256033" cy="24048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218687"/>
            <a:ext cx="27432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90626" y="3035480"/>
            <a:ext cx="3291840" cy="507493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0626" y="3035480"/>
            <a:ext cx="54864" cy="50749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245" y="3192706"/>
            <a:ext cx="3108960" cy="21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</a:rPr>
              <a:t>Technical Deep Dive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" y="385053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38505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86968" y="3706413"/>
            <a:ext cx="3300983" cy="50439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" y="3706413"/>
            <a:ext cx="45719" cy="5043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7" y="381107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</a:rPr>
              <a:t>Output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6671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3250" y="535839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0D9488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884" y="96926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MyShell?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" y="1459383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/>
              <a:t>The shell is the outer layer of an OS that acts as a bridge, taking your commands and translating them for the computer's core. It serves as the user's interface to control the system's inner workings.</a:t>
            </a:r>
          </a:p>
        </p:txBody>
      </p:sp>
      <p:sp>
        <p:nvSpPr>
          <p:cNvPr id="11" name="Shape 9"/>
          <p:cNvSpPr/>
          <p:nvPr/>
        </p:nvSpPr>
        <p:spPr>
          <a:xfrm>
            <a:off x="403250" y="2658161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250" y="2658161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" y="2767889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Goal: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09090" y="276788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</a:rPr>
              <a:t>Build a fully functional Unix shell from scratch in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3250" y="3316529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3250" y="3316529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" y="3426257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Scope: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09090" y="3426257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</a:rPr>
              <a:t>8 built-in features + process management + I/O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3250" y="3974897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250" y="3974897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" y="4084625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Tech: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9090" y="4084625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</a:rPr>
              <a:t>C, Linux (GCC)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960120"/>
            <a:ext cx="2926080" cy="3566160"/>
          </a:xfrm>
          <a:prstGeom prst="rect">
            <a:avLst/>
          </a:prstGeom>
          <a:solidFill>
            <a:srgbClr val="4A5A5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234440"/>
            <a:ext cx="1828800" cy="1828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5852160" y="2578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CFBF1"/>
                </a:solidFill>
              </a:rPr>
              <a:t>Features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CCFBF1"/>
                </a:solidFill>
              </a:rPr>
              <a:t>Implemented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75020" y="33604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FAFE"/>
                </a:solidFill>
              </a:rPr>
              <a:t>cd  ·  history  ·  !!  ·  help  ·  exit  ·  &amp;  ·  I/O redirect  ·  pipe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48A952DD-7279-484E-9F51-DF310E1D824B}"/>
              </a:ext>
            </a:extLst>
          </p:cNvPr>
          <p:cNvSpPr/>
          <p:nvPr/>
        </p:nvSpPr>
        <p:spPr>
          <a:xfrm>
            <a:off x="0" y="64008"/>
            <a:ext cx="9144000" cy="482803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pe 50">
            <a:extLst>
              <a:ext uri="{FF2B5EF4-FFF2-40B4-BE49-F238E27FC236}">
                <a16:creationId xmlns:a16="http://schemas.microsoft.com/office/drawing/2014/main" id="{677A44A4-B0F5-4344-91ED-3B6DB1907E57}"/>
              </a:ext>
            </a:extLst>
          </p:cNvPr>
          <p:cNvSpPr/>
          <p:nvPr/>
        </p:nvSpPr>
        <p:spPr>
          <a:xfrm>
            <a:off x="251460" y="331012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1460" y="5120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0D9488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15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Input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6367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stdin / keyboard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3624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115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Command Parser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16367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tokenize &amp; split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3624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9476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115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Command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Router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16367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built-in vs exec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3624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115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Execution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Engine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16367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fork/exec/wait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3624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8660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115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Output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86600" y="16367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B7280"/>
                </a:solidFill>
              </a:rPr>
              <a:t>stdout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Core Modules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2542032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267004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67004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670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</a:rPr>
              <a:t>Input </a:t>
            </a:r>
            <a:r>
              <a:rPr lang="en-US" sz="1200" b="1" dirty="0"/>
              <a:t>&amp; History </a:t>
            </a:r>
            <a:r>
              <a:rPr lang="en-US" sz="1200" b="1" dirty="0">
                <a:solidFill>
                  <a:srgbClr val="0F2027"/>
                </a:solidFill>
              </a:rPr>
              <a:t>Handler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0" y="26700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31012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101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/>
              <a:t>Logical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F2027"/>
                </a:solidFill>
              </a:rPr>
              <a:t> Parser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8600" y="395020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395020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502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</a:rPr>
              <a:t>Built-in Commands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267004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67004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670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</a:rPr>
              <a:t>Process Manager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00600" y="331012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331012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3101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</a:rPr>
              <a:t>Pipe/Redirect Handler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6671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518465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0D9488"/>
                </a:solidFill>
              </a:rPr>
              <a:t>CORE FEATURES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cd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" y="1783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Change working directory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04872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78024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78024" y="1783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View last 10 commands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81144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54296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!!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54296" y="1783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Repeat last command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57416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30568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help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30568" y="1783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List all built-in commands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⏻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1752" y="32186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exit / quit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1752" y="36118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Terminate the shell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04872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78024" y="32186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Background (&amp;)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478024" y="36118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Run process in background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81144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81144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&gt;&gt;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54296" y="32186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I/O Redirection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54296" y="36118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Redirect stdin/</a:t>
            </a:r>
            <a:r>
              <a:rPr lang="en-US" sz="1100" dirty="0" err="1">
                <a:solidFill>
                  <a:srgbClr val="374151"/>
                </a:solidFill>
              </a:rPr>
              <a:t>stdout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57416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57416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30568" y="321868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Pipe ( | 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30568" y="36118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</a:rPr>
              <a:t>Chain commands together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3474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4846320" cy="3790188"/>
          </a:xfrm>
          <a:prstGeom prst="rect">
            <a:avLst/>
          </a:prstGeom>
          <a:solidFill>
            <a:srgbClr val="E8F8F8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10972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097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0972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6" y="125730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pid_t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b="1" dirty="0">
                <a:solidFill>
                  <a:srgbClr val="00B0F0"/>
                </a:solidFill>
                <a:ea typeface="Courier New" pitchFamily="34" charset="-122"/>
                <a:cs typeface="Courier New" pitchFamily="34" charset="-120"/>
              </a:rPr>
              <a:t>fork(); </a:t>
            </a:r>
          </a:p>
          <a:p>
            <a:pPr marL="0" indent="0" algn="l">
              <a:buNone/>
            </a:pPr>
            <a:endParaRPr lang="en-US" sz="1200" dirty="0">
              <a:solidFill>
                <a:srgbClr val="0F2027"/>
              </a:solidFill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== 0) {   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setup_redirection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); </a:t>
            </a:r>
          </a:p>
          <a:p>
            <a:pPr marL="0" indent="0" algn="l">
              <a:buNone/>
            </a:pPr>
            <a:endParaRPr lang="en-US" sz="1200" dirty="0">
              <a:solidFill>
                <a:srgbClr val="0F2027"/>
              </a:solidFill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execvp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[0], 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) == -1) {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(RED "  </a:t>
            </a:r>
            <a:r>
              <a:rPr lang="en-US" sz="12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Command not found: '%s'\n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" RESET, 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[0]);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(EXIT_FAILURE);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}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}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else if 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&gt; 0) {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run_in_background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== 0)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waitpid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, NULL, 0);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else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(CYAN </a:t>
            </a:r>
            <a:r>
              <a:rPr lang="en-US" sz="12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"  [Background PID: %d]\n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" RESET, </a:t>
            </a:r>
            <a:r>
              <a:rPr lang="en-US" sz="1200" dirty="0" err="1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);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}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else {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itchFamily="34" charset="-122"/>
                <a:cs typeface="Courier New" pitchFamily="34" charset="-120"/>
              </a:rPr>
              <a:t>perror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(RED </a:t>
            </a:r>
            <a:r>
              <a:rPr lang="en-US" sz="1200" dirty="0">
                <a:solidFill>
                  <a:srgbClr val="FF0000"/>
                </a:solidFill>
                <a:ea typeface="Courier New" pitchFamily="34" charset="-122"/>
                <a:cs typeface="Courier New" pitchFamily="34" charset="-120"/>
              </a:rPr>
              <a:t>"  fork() failed</a:t>
            </a: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" RESET);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097280"/>
            <a:ext cx="2103120" cy="594360"/>
          </a:xfrm>
          <a:prstGeom prst="rect">
            <a:avLst/>
          </a:prstGeom>
          <a:solidFill>
            <a:srgbClr val="0F766E"/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097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Parent 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(MyShell)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011680"/>
            <a:ext cx="2103120" cy="594360"/>
          </a:xfrm>
          <a:prstGeom prst="rect">
            <a:avLst/>
          </a:prstGeom>
          <a:solidFill>
            <a:srgbClr val="06B6D4"/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fork()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2103120" cy="594360"/>
          </a:xfrm>
          <a:prstGeom prst="rect">
            <a:avLst/>
          </a:prstGeom>
          <a:solidFill>
            <a:srgbClr val="0D9488"/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Child Process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2103120" cy="594360"/>
          </a:xfrm>
          <a:prstGeom prst="rect">
            <a:avLst/>
          </a:prstGeom>
          <a:solidFill>
            <a:srgbClr val="0D9488"/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execvp(cmd)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169164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260604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260604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43715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 &amp; Pipes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" y="674067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159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</a:rPr>
              <a:t>I/O Redirection — dup2()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1061923"/>
            <a:ext cx="4114800" cy="3559000"/>
          </a:xfrm>
          <a:prstGeom prst="rect">
            <a:avLst/>
          </a:prstGeom>
          <a:solidFill>
            <a:srgbClr val="E8F8F8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1228799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" y="1228799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228799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393390"/>
            <a:ext cx="3922776" cy="1539245"/>
          </a:xfrm>
          <a:prstGeom prst="rect">
            <a:avLst/>
          </a:prstGeom>
          <a:noFill/>
          <a:ln>
            <a:solidFill>
              <a:srgbClr val="4A5A5F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open(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+ 1], O_WRONLY | O_CREAT | O_TRUNC, 0644);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-1) {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perror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(RED "  open()" RESET);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exit(EXIT_FAILURE);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STDOUT_FILENO);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960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</a:rPr>
              <a:t>Pipe Chain — cmd1 | cmd2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32588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pipe(fd)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1325880"/>
            <a:ext cx="137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32588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cmd1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1325880"/>
            <a:ext cx="137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32588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dup2(write)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1031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readEnd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 rot="10800000">
            <a:off x="5897880" y="2103120"/>
            <a:ext cx="137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1031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 Buffer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 rot="10800000">
            <a:off x="7360920" y="2103120"/>
            <a:ext cx="137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1031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writeEnd</a:t>
            </a:r>
            <a:endParaRPr lang="en-US" sz="11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4751A7B-D701-41F3-9047-DB9A6E638178}"/>
              </a:ext>
            </a:extLst>
          </p:cNvPr>
          <p:cNvSpPr/>
          <p:nvPr/>
        </p:nvSpPr>
        <p:spPr>
          <a:xfrm>
            <a:off x="338328" y="3070857"/>
            <a:ext cx="3931920" cy="1427991"/>
          </a:xfrm>
          <a:prstGeom prst="rect">
            <a:avLst/>
          </a:prstGeom>
          <a:noFill/>
          <a:ln>
            <a:solidFill>
              <a:srgbClr val="4A5A5F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open(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+ 1], O_RDONLY);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-1) {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perror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(RED "  open()" RESET);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exit(EXIT_FAILURE);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STDIN_FILENO);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</a:t>
            </a:r>
            <a:r>
              <a:rPr lang="en-US" sz="1100" dirty="0" err="1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AAA4939B-04D9-4C43-BECA-EE6BDCD20171}"/>
              </a:ext>
            </a:extLst>
          </p:cNvPr>
          <p:cNvSpPr/>
          <p:nvPr/>
        </p:nvSpPr>
        <p:spPr>
          <a:xfrm>
            <a:off x="4572000" y="288036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3AA50F32-2857-4DE8-BCBC-13A79D693AC1}"/>
              </a:ext>
            </a:extLst>
          </p:cNvPr>
          <p:cNvSpPr/>
          <p:nvPr/>
        </p:nvSpPr>
        <p:spPr>
          <a:xfrm>
            <a:off x="4572000" y="2880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Dup2(read)</a:t>
            </a:r>
            <a:endParaRPr lang="en-US" sz="1100" dirty="0"/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3102CF67-91F7-4FEA-830E-224F324CEB78}"/>
              </a:ext>
            </a:extLst>
          </p:cNvPr>
          <p:cNvSpPr/>
          <p:nvPr/>
        </p:nvSpPr>
        <p:spPr>
          <a:xfrm>
            <a:off x="6035040" y="288036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83B2C908-7AD7-43E2-AFA6-5387C9E96078}"/>
              </a:ext>
            </a:extLst>
          </p:cNvPr>
          <p:cNvSpPr/>
          <p:nvPr/>
        </p:nvSpPr>
        <p:spPr>
          <a:xfrm>
            <a:off x="6035040" y="2880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cmd2</a:t>
            </a:r>
            <a:endParaRPr lang="en-US" sz="110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B3E7AD6C-0BB4-4832-B933-D06F32841274}"/>
              </a:ext>
            </a:extLst>
          </p:cNvPr>
          <p:cNvSpPr/>
          <p:nvPr/>
        </p:nvSpPr>
        <p:spPr>
          <a:xfrm rot="5400000">
            <a:off x="7981061" y="1709166"/>
            <a:ext cx="2468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4CB5AED7-C9EA-4EE0-8BCA-CAD4A012BCD5}"/>
              </a:ext>
            </a:extLst>
          </p:cNvPr>
          <p:cNvSpPr/>
          <p:nvPr/>
        </p:nvSpPr>
        <p:spPr>
          <a:xfrm rot="5400000">
            <a:off x="5111496" y="2512544"/>
            <a:ext cx="2468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284B8785-756A-4898-8D93-1CC2A8B06FA6}"/>
              </a:ext>
            </a:extLst>
          </p:cNvPr>
          <p:cNvSpPr/>
          <p:nvPr/>
        </p:nvSpPr>
        <p:spPr>
          <a:xfrm>
            <a:off x="5897880" y="2889504"/>
            <a:ext cx="137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E7F504-89E1-4FE4-B394-E560B98D8D48}"/>
              </a:ext>
            </a:extLst>
          </p:cNvPr>
          <p:cNvCxnSpPr/>
          <p:nvPr/>
        </p:nvCxnSpPr>
        <p:spPr>
          <a:xfrm>
            <a:off x="4453467" y="771599"/>
            <a:ext cx="0" cy="41204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3474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 Module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</a:rPr>
              <a:t>MAX_HISTORY = 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69848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11096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11096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52344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52344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93592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93592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34840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76088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cmd7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76088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17336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17336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58584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8584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58584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99832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13716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99832" y="1874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" y="2487168"/>
            <a:ext cx="8595360" cy="56692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4871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save_to_history(cmd)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29000" y="2487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</a:rPr>
              <a:t>Appends command to buffer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28600" y="3154680"/>
            <a:ext cx="8595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154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show_history()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29000" y="31546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</a:rPr>
              <a:t>Prints numbered list of last N commands to stdout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" y="3822192"/>
            <a:ext cx="8595360" cy="56692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8221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 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29000" y="38221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</a:rPr>
              <a:t>Fetches last entry and re-executes it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0F766E"/>
                </a:solidFill>
              </a:rPr>
              <a:t>MyShell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145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0D9488"/>
                </a:solidFill>
              </a:rPr>
              <a:t>Output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" y="470747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54921B9-80D4-4427-A9F4-4A39D275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73499"/>
            <a:ext cx="8686800" cy="4190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FAFE"/>
                </a:solidFill>
              </a:rPr>
              <a:t>MyShell successfully demonstrates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FAFE"/>
                </a:solidFill>
              </a:rPr>
              <a:t>core OS concepts in practice.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901952"/>
            <a:ext cx="6400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901952"/>
            <a:ext cx="54864" cy="566928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90195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8 working features — from built-ins to background execution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560320"/>
            <a:ext cx="6400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560320"/>
            <a:ext cx="54864" cy="566928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5603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Full I/O redirection &amp; pipe chaining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4930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Thank You</a:t>
            </a:r>
            <a:endParaRPr lang="en-US" sz="3200" i="1" dirty="0"/>
          </a:p>
        </p:txBody>
      </p:sp>
      <p:sp>
        <p:nvSpPr>
          <p:cNvPr id="18" name="Text 1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BF1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680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MyShell — A Custom Unix Shell in C</dc:title>
  <dc:subject>PptxGenJS Presentation</dc:subject>
  <dc:creator>PptxGenJS</dc:creator>
  <cp:lastModifiedBy>Haleema Abid</cp:lastModifiedBy>
  <cp:revision>16</cp:revision>
  <dcterms:created xsi:type="dcterms:W3CDTF">2026-05-14T10:36:26Z</dcterms:created>
  <dcterms:modified xsi:type="dcterms:W3CDTF">2026-05-19T04:50:48Z</dcterms:modified>
</cp:coreProperties>
</file>